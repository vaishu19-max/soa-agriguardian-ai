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259" r:id="rId6"/>
    <p:sldId id="260" r:id="rId7"/>
    <p:sldId id="904" r:id="rId8"/>
    <p:sldId id="902" r:id="rId9"/>
    <p:sldId id="908" r:id="rId10"/>
    <p:sldId id="258" r:id="rId11"/>
    <p:sldId id="903" r:id="rId12"/>
    <p:sldId id="9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39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Wednesday, August </a:t>
            </a: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IN" sz="20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=""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50306"/>
              </p:ext>
            </p:extLst>
          </p:nvPr>
        </p:nvGraphicFramePr>
        <p:xfrm>
          <a:off x="8193271" y="4898509"/>
          <a:ext cx="370205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V.Varshita</a:t>
                      </a: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IN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2420030230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M.Vaishnavi – 2420030665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Vokitha.T</a:t>
                      </a:r>
                      <a:r>
                        <a:rPr lang="en-US" sz="14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- 2420030462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=""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=""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=""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=""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Cherukuvada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=""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=""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=""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29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=""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smtClean="0"/>
              <a:t>SOA </a:t>
            </a:r>
            <a:r>
              <a:rPr lang="en-IN" b="1" dirty="0"/>
              <a:t>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=""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AgriGuardian AI: An SOA-Based </a:t>
            </a:r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Agentic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Framework for Carbon-Aware Autonomous Irrigation in Paddy Cultivation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SOA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Review-2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=""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=""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=""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=""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=""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=""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=""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=""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=""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2"/>
                </a:ext>
                <a:ext uri="{837473B0-CC2E-450A-ABE3-18F120FF3D39}">
                  <a1611:picAttrSrcUrl xmlns=""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=""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00391" y="1816283"/>
            <a:ext cx="109630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Paddy cultivation often relies on manual or fixed-schedule irrigation, which can lead to water wastage, unnecessary energy consumption, and increased carbon emissions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smart irrigation systems mainly focus on soil moisture and do not fully consider weather conditions, crop requirements, energy use, and carbon impact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aims to address this problem by developing an SOA-based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that autonomously analyzes multiple factors, selects the most sustainable irrigation time, and makes explainable irrigation decisions while minimizing water, energy, and carbon impact.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202396" y="267322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99649" y="1852164"/>
            <a:ext cx="10431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Innovation: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does not simply decide whether to irrigate; it determines the most suitable time to irrigate.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 soil moisture, crop water requirement, weather forecast, energy consumption, and carbon impact before selecting an irrigation window.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9649" y="3343598"/>
            <a:ext cx="87288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🔹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Creativity: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possible irrigation windows, such as Now, +2 Hours, +4 Hours.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Calculate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Sustainability Score for each window based on water, energy, weather, and carbon factors.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99649" y="4835032"/>
            <a:ext cx="108872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Novelty: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novelty is a carbon-aware irrigation scheduling mechanism that autonomously selects the most sustainable irrigation window instead of using fixed schedules or simple soil-moisture thresholds.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710709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/>
              <a:t>Feasibility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8807" y="1122408"/>
            <a:ext cx="113294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sensors can collect soil moisture, temperature, humidity and water-level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AI/ML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can predict irrigation requirements.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can analyze soil, weather, crop and carbon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REST APIs allow independent services to communicate.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dashboard can display field conditions, irrigation decisions and carbon impact.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can initially use simulated sensor data, making development easier.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/>
              <a:t>2.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low-cost components such as ESP32/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Arduino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basic sensors.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Open-source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and ML libraries can reduce development cost.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simulation-based prototype can be developed without expensive agricultural equipment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Operational </a:t>
            </a: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Feasibility: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reduces manual monitoring.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Farmers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view irrigation status through a dashboard.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can automatically recommend the best irrigation window.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Each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can include a simple explanation and sustainability score. 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949" y="-243191"/>
            <a:ext cx="10515600" cy="1325563"/>
          </a:xfrm>
        </p:spPr>
        <p:txBody>
          <a:bodyPr/>
          <a:lstStyle/>
          <a:p>
            <a:r>
              <a:rPr lang="en-US" b="1" dirty="0" smtClean="0">
                <a:latin typeface="+mn-lt"/>
              </a:rPr>
              <a:t>Project Plan</a:t>
            </a:r>
            <a:endParaRPr lang="en-IN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746861"/>
              </p:ext>
            </p:extLst>
          </p:nvPr>
        </p:nvGraphicFramePr>
        <p:xfrm>
          <a:off x="1177046" y="1031136"/>
          <a:ext cx="10165404" cy="5612854"/>
        </p:xfrm>
        <a:graphic>
          <a:graphicData uri="http://schemas.openxmlformats.org/drawingml/2006/table">
            <a:tbl>
              <a:tblPr/>
              <a:tblGrid>
                <a:gridCol w="2402733"/>
                <a:gridCol w="4374203"/>
                <a:gridCol w="3388468"/>
              </a:tblGrid>
              <a:tr h="27049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 Activities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survey, problem identification &amp; requirements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1–2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architecture and system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 &amp; sensor-data simulation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4–5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Irrigation prediction model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6–7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agent development — Soil, Weather, Crop &amp; Carbon Agents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8–9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Carbon-aware irrigation window optimization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service integration and REST APIs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62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and visualization development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Testing, comparison and performance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13–14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337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Documentation, results and final presentation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 15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6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439040"/>
              </p:ext>
            </p:extLst>
          </p:nvPr>
        </p:nvGraphicFramePr>
        <p:xfrm>
          <a:off x="274646" y="854836"/>
          <a:ext cx="11642705" cy="48389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=""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err="1" smtClean="0"/>
                        <a:t>Kamienski</a:t>
                      </a:r>
                      <a:r>
                        <a:rPr lang="en-IN" sz="1600" dirty="0" smtClean="0"/>
                        <a:t> et al.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Smart Water Management for Agriculture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-based smart agriculture and water management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enables collection and integration of agricultural information</a:t>
                      </a:r>
                      <a:endParaRPr lang="en-US" sz="16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Autonomous decision-making and broader optimization remain challenges</a:t>
                      </a:r>
                      <a:endParaRPr lang="en-US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Proposed </a:t>
                      </a:r>
                      <a:r>
                        <a:rPr lang="en-IN" sz="1600" dirty="0" err="1" smtClean="0"/>
                        <a:t>AgriGuardian</a:t>
                      </a:r>
                      <a:r>
                        <a:rPr lang="en-IN" sz="1600" dirty="0" smtClean="0"/>
                        <a:t> AI</a:t>
                      </a:r>
                      <a:endParaRPr lang="en-IN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smtClean="0"/>
                        <a:t>Carbon-Aware Autonomous Irrigation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SOA + </a:t>
                      </a:r>
                      <a:r>
                        <a:rPr lang="en-US" sz="1600" dirty="0" err="1" smtClean="0"/>
                        <a:t>Agentic</a:t>
                      </a:r>
                      <a:r>
                        <a:rPr lang="en-US" sz="1600" dirty="0" smtClean="0"/>
                        <a:t> AI + </a:t>
                      </a: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 + carbon-aware optimization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smtClean="0"/>
                        <a:t>Enables modular autonomous irrigation decisions considering multiple factors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Requires field-level validation and calibration</a:t>
                      </a:r>
                      <a:endParaRPr lang="en-US" sz="16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 smtClean="0"/>
                        <a:t>Elijah et al.</a:t>
                      </a:r>
                      <a:endParaRPr lang="en-IN" sz="16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and Smart Agriculture</a:t>
                      </a:r>
                      <a:endParaRPr lang="en-IN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/>
                        <a:t>IoT</a:t>
                      </a:r>
                      <a:r>
                        <a:rPr lang="en-US" sz="1600" dirty="0" smtClean="0"/>
                        <a:t>-enabled agricultural monitoring and automation</a:t>
                      </a:r>
                      <a:endParaRPr lang="en-US" sz="16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 smtClean="0"/>
                        <a:t>IoT</a:t>
                      </a:r>
                      <a:r>
                        <a:rPr lang="en-IN" sz="1600" dirty="0" smtClean="0"/>
                        <a:t> improves agricultural data collection and automation</a:t>
                      </a:r>
                      <a:endParaRPr lang="en-US" sz="16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Security, scalability and intelligent decision-making require further development</a:t>
                      </a:r>
                      <a:endParaRPr lang="en-US" sz="16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=""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29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539330"/>
              </p:ext>
            </p:extLst>
          </p:nvPr>
        </p:nvGraphicFramePr>
        <p:xfrm>
          <a:off x="274646" y="689468"/>
          <a:ext cx="11642705" cy="5212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xmlns="" val="1396003017"/>
                    </a:ext>
                  </a:extLst>
                </a:gridCol>
              </a:tblGrid>
              <a:tr h="235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7398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i-FI" sz="1400" b="0" dirty="0" smtClean="0"/>
                        <a:t>M. Benzaouia, B. Hajji, A. Mellit &amp; A. Rabhi, 2023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“Fuzzy-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Smart Irrigation System for Precision Scheduling and Monitoring”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 err="1" smtClean="0"/>
                        <a:t>IoT</a:t>
                      </a:r>
                      <a:r>
                        <a:rPr lang="en-IN" sz="1400" b="0" dirty="0" smtClean="0"/>
                        <a:t> sensors + weather/soil information + fuzzy-logic control + </a:t>
                      </a:r>
                      <a:r>
                        <a:rPr lang="en-IN" sz="1400" b="0" dirty="0" err="1" smtClean="0"/>
                        <a:t>LoRa</a:t>
                      </a:r>
                      <a:r>
                        <a:rPr lang="en-IN" sz="1400" b="0" dirty="0" smtClean="0"/>
                        <a:t> communication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Combines weather and soil conditions to improve irrigation scheduling and reduce water and energy losses.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Uses fuzzy-based decision making rather than autonomous multi-agent reasoning and does not directly optimize carbon impact.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4155954"/>
                  </a:ext>
                </a:extLst>
              </a:tr>
              <a:tr h="16508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dirty="0" err="1" smtClean="0"/>
                        <a:t>Anoop</a:t>
                      </a:r>
                      <a:r>
                        <a:rPr lang="en-IN" sz="1400" b="0" dirty="0" smtClean="0"/>
                        <a:t> E. G. &amp; G. </a:t>
                      </a:r>
                      <a:r>
                        <a:rPr lang="en-IN" sz="1400" b="0" dirty="0" err="1" smtClean="0"/>
                        <a:t>Josemin</a:t>
                      </a:r>
                      <a:r>
                        <a:rPr lang="en-IN" sz="1400" b="0" dirty="0" smtClean="0"/>
                        <a:t> </a:t>
                      </a:r>
                      <a:r>
                        <a:rPr lang="en-IN" sz="1400" b="0" dirty="0" err="1" smtClean="0"/>
                        <a:t>Bala</a:t>
                      </a:r>
                      <a:r>
                        <a:rPr lang="en-IN" sz="1400" b="0" dirty="0" smtClean="0"/>
                        <a:t>, 2023/2024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“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and ML-Based Automatic Irrigation System for Smart Agriculture System”</a:t>
                      </a:r>
                      <a:endParaRPr lang="en-IN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 smtClean="0"/>
                        <a:t>Reviews how </a:t>
                      </a:r>
                      <a:r>
                        <a:rPr lang="en-US" sz="1400" b="0" dirty="0" err="1" smtClean="0"/>
                        <a:t>IoT</a:t>
                      </a:r>
                      <a:r>
                        <a:rPr lang="en-US" sz="1400" b="0" dirty="0" smtClean="0"/>
                        <a:t> and ML can be integrated for predictive irrigation, including sensing, communication, storage and prediction.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Focuses mainly on smart irrigation and prediction; carbon-aware scheduling and autonomous multi-agent decision-making are not addressed.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 smtClean="0"/>
                        <a:t>Provides the foundation for your </a:t>
                      </a:r>
                      <a:r>
                        <a:rPr lang="en-US" b="0" dirty="0" err="1" smtClean="0"/>
                        <a:t>IoT</a:t>
                      </a:r>
                      <a:r>
                        <a:rPr lang="en-US" b="0" dirty="0" smtClean="0"/>
                        <a:t> monitoring + ML prediction components.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542637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29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6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532434" y="2819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612841" y="1704177"/>
            <a:ext cx="1355063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1 —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smart irrigation systems focus on reducing water consumption.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But:</a:t>
            </a:r>
            <a:r>
              <a:rPr kumimoji="0" 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water consumption does not necessarily mean minimum environmental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pumping a smaller amount of water at an energy-intensive time may still have a higher carbon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water + energy + carbon simultaneously.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839" y="3295683"/>
            <a:ext cx="94066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2 </a:t>
            </a:r>
            <a:endParaRPr lang="en-IN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follow: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Threshold → Pump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system proposes: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Sensor → Multiple Agents → Reasoning → Decision → </a:t>
            </a:r>
            <a:r>
              <a:rPr lang="en-IN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612839" y="4857126"/>
            <a:ext cx="1072453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3 — Single-Parameter Irrigation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&lt; 30% → Pump 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 AI can consider: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 moisture + rainfall forecast + temperature + crop stage + water availability + pump energy + carbon intensity.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83012" y="1655537"/>
            <a:ext cx="975359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SOA-based framework for modular and scalable smart irrigation management.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Monitor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soil, weather, crop, and water conditions using real-time agricultural data. </a:t>
            </a:r>
          </a:p>
          <a:p>
            <a:pPr algn="just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Use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AI agents to autonomously analyze conditions and make irrigation decisions.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Optimize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irrigation timing and water usage while maintaining the required water level for paddy cultivation.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Minimize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consumption and carbon impact while providing explainable and sustainable irrigation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7893" y="0"/>
            <a:ext cx="10515600" cy="1325563"/>
          </a:xfrm>
        </p:spPr>
        <p:txBody>
          <a:bodyPr/>
          <a:lstStyle/>
          <a:p>
            <a:r>
              <a:rPr lang="en-US" dirty="0" smtClean="0"/>
              <a:t>Significance/Outcomes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02076" y="1079775"/>
            <a:ext cx="1165049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 Conservation: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aims to reduce unnecessary irrigation by considering soil moisture, crop requirements, rainfall forecasts and water availability before recommending irrigation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research shows that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-based smart irrigation can achieve substantial water savings compared with conventional irrigation.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Reduction in Energy Consumption: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Irrigation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energy for pumping and water distribution. By selecting an appropriate irrigation window instead of continuously following a fixed schedule, the proposed system can reduce unnecessary pumping operations.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specifically identifies the integration of precision irrigation,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management as an important direction for sustainable agriculture. 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Reduction in Carbon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significance of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AgriGuardian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is that it does not optimize irrigation only for water consumption. It also considers energy usage and carbon impact.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particularly important in paddy cultivation because irrigation and water-management practices are connected with agricultural greenhouse-gas emissions.</a:t>
            </a:r>
          </a:p>
        </p:txBody>
      </p:sp>
    </p:spTree>
    <p:extLst>
      <p:ext uri="{BB962C8B-B14F-4D97-AF65-F5344CB8AC3E}">
        <p14:creationId xmlns:p14="http://schemas.microsoft.com/office/powerpoint/2010/main" val="140053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1219</Words>
  <Application>Microsoft Office PowerPoint</Application>
  <PresentationFormat>Widescreen</PresentationFormat>
  <Paragraphs>188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</vt:lpstr>
      <vt:lpstr>PowerPoint Presentation</vt:lpstr>
      <vt:lpstr>PowerPoint Presentation</vt:lpstr>
      <vt:lpstr>PowerPoint Presentation</vt:lpstr>
      <vt:lpstr>PowerPoint Presentation</vt:lpstr>
      <vt:lpstr>Significance/Outcomes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Microsoft account</cp:lastModifiedBy>
  <cp:revision>43</cp:revision>
  <dcterms:created xsi:type="dcterms:W3CDTF">2026-08-08T06:33:56Z</dcterms:created>
  <dcterms:modified xsi:type="dcterms:W3CDTF">2026-09-29T04:44:22Z</dcterms:modified>
</cp:coreProperties>
</file>