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  <p:sldId id="90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54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19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19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19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Wednesday, August </a:t>
            </a:r>
            <a:r>
              <a:rPr lang="en-I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en-IN" sz="2000" b="1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xmlns="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450306"/>
              </p:ext>
            </p:extLst>
          </p:nvPr>
        </p:nvGraphicFramePr>
        <p:xfrm>
          <a:off x="8193271" y="4898509"/>
          <a:ext cx="3702050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xmlns="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V.Varshita</a:t>
                      </a:r>
                      <a:r>
                        <a:rPr lang="en-IN" sz="1600" b="1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– </a:t>
                      </a:r>
                      <a:r>
                        <a:rPr lang="en-IN" sz="1400" b="1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2420030230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400" b="1" kern="1200" dirty="0" err="1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M.Vaishnavi</a:t>
                      </a:r>
                      <a:r>
                        <a:rPr lang="en-US" sz="1400" b="1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– 2420030665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400" b="1" kern="1200" dirty="0" err="1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Vokitha.T</a:t>
                      </a:r>
                      <a:r>
                        <a:rPr lang="en-US" sz="1400" b="1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- 2420030462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xmlns="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xmlns="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xmlns="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xmlns="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83842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xmlns="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xmlns="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Srikanth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Cherukuvada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xmlns="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xmlns="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xmlns="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xmlns="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C3D7-1A78-437F-8E79-FA9F45001D93}" type="datetime3">
              <a:rPr lang="en-US" b="1" smtClean="0"/>
              <a:t>19 August 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xmlns="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RTOS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xmlns="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xmlns="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AgriGuardian AI: An SOA-Based </a:t>
            </a:r>
            <a:r>
              <a:rPr lang="en-US" sz="2400" dirty="0" err="1">
                <a:solidFill>
                  <a:schemeClr val="bg1"/>
                </a:solidFill>
                <a:latin typeface="Arial Black" panose="020B0A04020102020204" pitchFamily="34" charset="0"/>
              </a:rPr>
              <a:t>Agentic</a:t>
            </a:r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 Framework for Carbon-Aware Autonomous Irrigation in Paddy Cultivation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Black" panose="020B0A04020102020204" pitchFamily="34" charset="0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SOA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BBD2AD-CA4B-40B7-B7F6-5A567EB7E4C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 August 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Ph.D. Viva Voce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/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xmlns="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"/>
                </a:ext>
                <a:ext uri="{837473B0-CC2E-450A-ABE3-18F120FF3D39}">
                  <a1611:picAttrSrcUrl xmlns:a1611="http://schemas.microsoft.com/office/drawing/2016/11/main" xmlns="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xmlns="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xmlns="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xmlns="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"/>
                </a:ext>
                <a:ext uri="{837473B0-CC2E-450A-ABE3-18F120FF3D39}">
                  <a1611:picAttrSrcUrl xmlns:a1611="http://schemas.microsoft.com/office/drawing/2016/11/main" xmlns="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xmlns="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"/>
                </a:ext>
                <a:ext uri="{837473B0-CC2E-450A-ABE3-18F120FF3D39}">
                  <a1611:picAttrSrcUrl xmlns:a1611="http://schemas.microsoft.com/office/drawing/2016/11/main" xmlns="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xmlns="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"/>
                </a:ext>
                <a:ext uri="{837473B0-CC2E-450A-ABE3-18F120FF3D39}">
                  <a1611:picAttrSrcUrl xmlns:a1611="http://schemas.microsoft.com/office/drawing/2016/11/main" xmlns="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xmlns="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"/>
                </a:ext>
                <a:ext uri="{837473B0-CC2E-450A-ABE3-18F120FF3D39}">
                  <a1611:picAttrSrcUrl xmlns:a1611="http://schemas.microsoft.com/office/drawing/2016/11/main" xmlns="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xmlns="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"/>
                </a:ext>
                <a:ext uri="{837473B0-CC2E-450A-ABE3-18F120FF3D39}">
                  <a1611:picAttrSrcUrl xmlns:a1611="http://schemas.microsoft.com/office/drawing/2016/11/main" xmlns="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xmlns="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"/>
                </a:ext>
                <a:ext uri="{837473B0-CC2E-450A-ABE3-18F120FF3D39}">
                  <a1611:picAttrSrcUrl xmlns:a1611="http://schemas.microsoft.com/office/drawing/2016/11/main" xmlns="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xmlns="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00391" y="1816283"/>
            <a:ext cx="1096307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Paddy cultivation often relies on manual or fixed-schedule irrigation, which can lead to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water wastage, unnecessary energy consumption, and increased carbon emissions</a:t>
            </a: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smart irrigation systems mainly focus on soil moisture and do not fully consider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weather conditions, crop requirements, energy use, and carbon impact together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AgriGuardian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aims to address this problem by developing an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SOA-based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agentic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framework that autonomously analyzes multiple factors, selects the most sustainable irrigation time, and makes explainable irrigation decisions while minimizing water, energy, and carbon impact.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83012" y="1655537"/>
            <a:ext cx="975359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US" sz="20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Develop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SOA-based framework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modular and scalable smart irrigation management. </a:t>
            </a:r>
            <a:endParaRPr lang="en-US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Monitor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soil, weather, crop, and water conditions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real-time agricultural data. </a:t>
            </a:r>
          </a:p>
          <a:p>
            <a:pPr algn="just"/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Use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AI agents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autonomously analyze conditions and make irrigation decisions. </a:t>
            </a:r>
            <a:endParaRPr lang="en-US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+mj-lt"/>
              <a:buAutoNum type="arabicPeriod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Optimize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irrigation timing and water usage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while maintaining the required water level for paddy cultivation. </a:t>
            </a:r>
            <a:endParaRPr lang="en-US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+mj-lt"/>
              <a:buAutoNum type="arabicPeriod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Minimize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consumption and carbon impact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while providing explainable and sustainable irrigation decisions. 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730809"/>
              </p:ext>
            </p:extLst>
          </p:nvPr>
        </p:nvGraphicFramePr>
        <p:xfrm>
          <a:off x="274646" y="854836"/>
          <a:ext cx="11642705" cy="483893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xmlns="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600" dirty="0" err="1" smtClean="0"/>
                        <a:t>Kamienski</a:t>
                      </a:r>
                      <a:r>
                        <a:rPr lang="en-IN" sz="1600" dirty="0" smtClean="0"/>
                        <a:t> et al.</a:t>
                      </a:r>
                      <a:endParaRPr lang="en-IN" sz="16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Smart Water Management for Agriculture</a:t>
                      </a:r>
                      <a:endParaRPr lang="en-IN" sz="16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 smtClean="0"/>
                        <a:t>IoT</a:t>
                      </a:r>
                      <a:r>
                        <a:rPr lang="en-US" sz="1600" dirty="0" smtClean="0"/>
                        <a:t>-based smart agriculture and water management</a:t>
                      </a:r>
                      <a:endParaRPr lang="en-US" sz="16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 smtClean="0"/>
                        <a:t>IoT</a:t>
                      </a:r>
                      <a:r>
                        <a:rPr lang="en-US" sz="1600" dirty="0" smtClean="0"/>
                        <a:t> enables collection and integration of agricultural information</a:t>
                      </a:r>
                      <a:endParaRPr lang="en-US" sz="16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smtClean="0"/>
                        <a:t>Autonomous decision-making and broader optimization remain challenges</a:t>
                      </a:r>
                      <a:endParaRPr lang="en-US" sz="16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600" dirty="0" smtClean="0"/>
                        <a:t>Proposed </a:t>
                      </a:r>
                      <a:r>
                        <a:rPr lang="en-IN" sz="1600" dirty="0" err="1" smtClean="0"/>
                        <a:t>AgriGuardian</a:t>
                      </a:r>
                      <a:r>
                        <a:rPr lang="en-IN" sz="1600" dirty="0" smtClean="0"/>
                        <a:t> AI</a:t>
                      </a:r>
                      <a:endParaRPr lang="en-IN" sz="16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Carbon-Aware Autonomous Irrigation</a:t>
                      </a:r>
                      <a:endParaRPr lang="en-IN" sz="16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smtClean="0"/>
                        <a:t>SOA + </a:t>
                      </a:r>
                      <a:r>
                        <a:rPr lang="en-US" sz="1600" dirty="0" err="1" smtClean="0"/>
                        <a:t>Agentic</a:t>
                      </a:r>
                      <a:r>
                        <a:rPr lang="en-US" sz="1600" dirty="0" smtClean="0"/>
                        <a:t> AI + </a:t>
                      </a:r>
                      <a:r>
                        <a:rPr lang="en-US" sz="1600" dirty="0" err="1" smtClean="0"/>
                        <a:t>IoT</a:t>
                      </a:r>
                      <a:r>
                        <a:rPr lang="en-US" sz="1600" dirty="0" smtClean="0"/>
                        <a:t> + carbon-aware optimization</a:t>
                      </a:r>
                      <a:endParaRPr lang="en-US" sz="16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smtClean="0"/>
                        <a:t>Enables modular autonomous irrigation decisions considering multiple factors</a:t>
                      </a:r>
                      <a:endParaRPr lang="en-US" sz="16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smtClean="0"/>
                        <a:t>Requires field-level validation and calibration</a:t>
                      </a:r>
                      <a:endParaRPr lang="en-US" sz="16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600" dirty="0" smtClean="0"/>
                        <a:t>Elijah et al.</a:t>
                      </a:r>
                      <a:endParaRPr lang="en-IN" sz="16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err="1" smtClean="0"/>
                        <a:t>IoT</a:t>
                      </a:r>
                      <a:r>
                        <a:rPr lang="en-IN" sz="1600" dirty="0" smtClean="0"/>
                        <a:t> and Smart Agriculture</a:t>
                      </a:r>
                      <a:endParaRPr lang="en-IN" sz="16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 smtClean="0"/>
                        <a:t>IoT</a:t>
                      </a:r>
                      <a:r>
                        <a:rPr lang="en-US" sz="1600" dirty="0" smtClean="0"/>
                        <a:t>-enabled agricultural monitoring and automation</a:t>
                      </a:r>
                      <a:endParaRPr lang="en-US" sz="16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 smtClean="0"/>
                        <a:t>IoT</a:t>
                      </a:r>
                      <a:r>
                        <a:rPr lang="en-IN" sz="1600" dirty="0" smtClean="0"/>
                        <a:t> improves agricultural data collection and automation</a:t>
                      </a:r>
                      <a:endParaRPr lang="en-US" sz="16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smtClean="0"/>
                        <a:t>Security, scalability and intelligent decision-making require further development</a:t>
                      </a:r>
                      <a:endParaRPr lang="en-US" sz="16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9A8C-9B92-4D48-A6C8-6870D9F00B9F}" type="datetime3">
              <a:rPr lang="en-US" smtClean="0"/>
              <a:t>19 August 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00062CA-E93E-DFB0-5A22-1412AB9A6752}"/>
              </a:ext>
            </a:extLst>
          </p:cNvPr>
          <p:cNvSpPr txBox="1"/>
          <p:nvPr/>
        </p:nvSpPr>
        <p:spPr>
          <a:xfrm>
            <a:off x="2532434" y="28194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Research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612841" y="1704177"/>
            <a:ext cx="1355063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 1 —</a:t>
            </a:r>
            <a:r>
              <a:rPr kumimoji="0" lang="en-US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smart irrigation systems focus on reducing water consumption.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But:</a:t>
            </a:r>
            <a:r>
              <a:rPr kumimoji="0" 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Minimum water consumption does not necessarily mean minimum environmental impact.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example, pumping a smaller amount of water at an energy-intensive time may still have a higher carbon impact.</a:t>
            </a:r>
            <a:endParaRPr kumimoji="0" 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approach: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 water + energy + carbon simultaneously.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12839" y="3295683"/>
            <a:ext cx="940664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 2 </a:t>
            </a:r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 </a:t>
            </a:r>
          </a:p>
          <a:p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systems follow: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Sensor → Threshold → Pump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system proposes: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Sensor → Multiple Agents → Reasoning → Decision → </a:t>
            </a:r>
            <a:r>
              <a:rPr lang="en-IN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612839" y="4857126"/>
            <a:ext cx="1072453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 3 — Single-Parameter Irrigation Decisions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Soil moisture &lt; 30% → Pump 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AgriGuardian AI can consider: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Soil moisture + rainfall forecast + temperature + crop stage + water availability + pump energy + carbon intensity.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4387226-F29E-0041-5581-4EF07C7198F1}"/>
              </a:ext>
            </a:extLst>
          </p:cNvPr>
          <p:cNvSpPr txBox="1"/>
          <p:nvPr/>
        </p:nvSpPr>
        <p:spPr>
          <a:xfrm>
            <a:off x="1202396" y="267322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99649" y="1852164"/>
            <a:ext cx="1043151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🔹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Innovation: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does not simply decide whether to irrigate; it determines the most suitable time to irrigate.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considers soil moisture, crop water requirement, weather forecast, energy consumption, and carbon impact before selecting an irrigation window.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9649" y="3343598"/>
            <a:ext cx="87288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🔹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Creativity: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Generate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possible irrigation windows, such as Now, +2 Hours, +4 Hours.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Calculate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Sustainability Score for each window based on water, energy, weather, and carbon factors.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99649" y="4835032"/>
            <a:ext cx="1088724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Novelty: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key novelty is a carbon-aware irrigation scheduling mechanism that autonomously selects the most sustainable irrigation window instead of using fixed schedules or simple soil-moisture thresholds.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EF7CE10-08D9-83CF-7508-12575531E1E0}"/>
              </a:ext>
            </a:extLst>
          </p:cNvPr>
          <p:cNvSpPr txBox="1"/>
          <p:nvPr/>
        </p:nvSpPr>
        <p:spPr>
          <a:xfrm>
            <a:off x="1710709" y="268607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 smtClean="0"/>
              <a:t>Feasibility</a:t>
            </a:r>
            <a:endParaRPr lang="en-US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18807" y="1122408"/>
            <a:ext cx="1132948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1.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Feasibility: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IoT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sensors can collect soil moisture, temperature, humidity and water-level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AI/ML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 can predict irrigation requirements.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agents can analyze soil, weather, crop and carbon factors.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SOA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REST APIs allow independent services to communicate.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dashboard can display field conditions, irrigation decisions and carbon impact.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prototype can initially use simulated sensor data, making development easier. </a:t>
            </a:r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/>
              <a:t>2.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Economic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Feasibility: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Uses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low-cost components such as ESP32/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Arduino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basic sensors.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Open-source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software and ML libraries can reduce development cost.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simulation-based prototype can be developed without expensive agricultural equipment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Operational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Feasibility: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reduces manual monitoring.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Farmers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view irrigation status through a dashboard.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can automatically recommend the best irrigation window.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Each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can include a simple explanation and sustainability score. 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8949" y="-243191"/>
            <a:ext cx="10515600" cy="1325563"/>
          </a:xfrm>
        </p:spPr>
        <p:txBody>
          <a:bodyPr/>
          <a:lstStyle/>
          <a:p>
            <a:r>
              <a:rPr lang="en-US" b="1" dirty="0" smtClean="0">
                <a:latin typeface="+mn-lt"/>
              </a:rPr>
              <a:t>Project Plan</a:t>
            </a:r>
            <a:endParaRPr lang="en-IN" b="1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746861"/>
              </p:ext>
            </p:extLst>
          </p:nvPr>
        </p:nvGraphicFramePr>
        <p:xfrm>
          <a:off x="1177046" y="1031136"/>
          <a:ext cx="10165404" cy="5612854"/>
        </p:xfrm>
        <a:graphic>
          <a:graphicData uri="http://schemas.openxmlformats.org/drawingml/2006/table">
            <a:tbl>
              <a:tblPr/>
              <a:tblGrid>
                <a:gridCol w="2402733"/>
                <a:gridCol w="4374203"/>
                <a:gridCol w="3388468"/>
              </a:tblGrid>
              <a:tr h="270499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Major Activities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Timeline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6248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1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Literature survey, problem identification &amp; requirements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1–2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2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SOA architecture and system design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3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3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Dataset preparation &amp; sensor-data simulation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4–5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4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Irrigation prediction model development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6–7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6248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5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agent development — Soil, Weather, Crop &amp; Carbon Agents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8–9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6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Carbon-aware irrigation window optimization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10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7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SOA service integration and REST APIs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11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6248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8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Dashboard and visualization development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12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9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Testing, comparison and performance evaluation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13–14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10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Documentation, results and final presentation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15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1667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895</Words>
  <Application>Microsoft Office PowerPoint</Application>
  <PresentationFormat>Widescreen</PresentationFormat>
  <Paragraphs>161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Aptos</vt:lpstr>
      <vt:lpstr>Aptos Display</vt:lpstr>
      <vt:lpstr>Arial</vt:lpstr>
      <vt:lpstr>Arial Black</vt:lpstr>
      <vt:lpstr>Calibri</vt:lpstr>
      <vt:lpstr>Calibri Light</vt:lpstr>
      <vt:lpstr>Cambria</vt:lpstr>
      <vt:lpstr>Poppins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Plan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srikanth ch</dc:creator>
  <cp:lastModifiedBy>Microsoft account</cp:lastModifiedBy>
  <cp:revision>36</cp:revision>
  <dcterms:created xsi:type="dcterms:W3CDTF">2026-08-08T06:33:56Z</dcterms:created>
  <dcterms:modified xsi:type="dcterms:W3CDTF">2026-08-19T08:41:19Z</dcterms:modified>
</cp:coreProperties>
</file>